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BrainScanAI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2E75B6"/>
                </a:solidFill>
                <a:latin typeface="Calibri"/>
              </a:rPr>
              <a:t>Semi-Supervised Brain Tumor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27432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  <a:latin typeface="Calibri"/>
              </a:rPr>
              <a:t>CurelyticsIA — Projet BrainScanAI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Calibri"/>
              </a:rPr>
              <a:t>Ghislain Delabie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  <a:latin typeface="Calibri"/>
              </a:rPr>
              <a:t>Avril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Context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CurelyticsIA: medical AI startup specializing in brain tumor detection from MRI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The labeling bottleneck: radiologist labels cost 3-5 EUR per image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Current situation: 100 labeled images + 1,406 unlabeled images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Budget constraint: 300 EUR covers ~100 labels; full labeling of 4M images would cost 12-20M EUR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• Core question: can we leverage unlabeled data to improve classification?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Risk asymmetry: a missed tumor (false negative) is far more costly than a false alarm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035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Goal: build a performant classifier using semi-supervised learning to reduce labeling costs by 1,000x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1,506 total brain MRI images (512x512 JPEG, grayscale)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100 labeled: 50 Normal + 50 Cancer (perfectly balanced)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1,406 unlabeled images (used for feature extraction, clustering, pseudo-labeling)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Stratified split (random_state=42):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Training: 70 images (35 Normal + 35 Cancer)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Test: 30 images (15 Normal + 15 Cancer) — sealed, used only for final evaluation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CNN sub-split: 56 train / 14 validation (80/20 stratified)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0352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400" b="0">
                <a:solidFill>
                  <a:srgbClr val="8B5C00"/>
                </a:solidFill>
                <a:latin typeface="Calibri"/>
              </a:rPr>
              <a:t>30-image test set: results interpreted with caution (bootstrap 95% CIs reported for all metrics)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Methodology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Images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(512x512)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463040"/>
            <a:ext cx="20116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ResNet-50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(pretrained, frozen)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Embeddings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(2048-dim)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1280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PCA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(50-dim)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463040"/>
            <a:ext cx="1280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t-SNE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(2D viz)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00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00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116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5B6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468880"/>
            <a:ext cx="21945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Clustering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(K-Means, DBSCAN)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017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5B6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7472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Label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Propagation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47472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Pseudo-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Labeling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474720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CNN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Fine-Tuning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474720"/>
            <a:ext cx="18288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Evaluation</a:t>
            </a:r>
          </a:p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(Bootstrap CI)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611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11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11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72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66666"/>
                </a:solidFill>
                <a:latin typeface="Calibri"/>
              </a:rPr>
              <a:t>Stage 1: Feature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572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66666"/>
                </a:solidFill>
                <a:latin typeface="Calibri"/>
              </a:rPr>
              <a:t>Stage 2: Unsupervised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72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666666"/>
                </a:solidFill>
                <a:latin typeface="Calibri"/>
              </a:rPr>
              <a:t>Stage 3-4: Semi-Supervised + CNN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2064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400" b="0">
                <a:solidFill>
                  <a:srgbClr val="1B2A4A"/>
                </a:solidFill>
                <a:latin typeface="Calibri"/>
              </a:rPr>
              <a:t>5-stage pipeline: Feature Extraction  &gt;  Dimensionality Reduction &amp; Clustering  &gt;  Semi-Supervised Methods  &gt;  CNN Training  &gt; 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Feature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ResNet-50 pretrained on ImageNet (1.2M natural images) — transfer learning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Frozen backbone: no training on medical data, extract features only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Output: 2048-dimensional embedding per image (via global average pooling)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Preprocessing pipeline: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Resize 512x512 to 224x224 (ResNet input size)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Grayscale to 3-channel (repeat across RGB channels)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– ImageNet normalization (mean=[0.485, 0.456, 0.406], std=[0.229, 0.224, 0.225])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02920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500" b="0">
                <a:solidFill>
                  <a:srgbClr val="1B2A4A"/>
                </a:solidFill>
                <a:latin typeface="Calibri"/>
              </a:rPr>
              <a:t>Key assumption: the network learned general visual features on natural images — we hypothesize these transfer to medical imaging. The clustering results will test this hypothesis.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Unsupervised Analysis —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PCA: reduces 2048-dim embeddings to 50 dimensions, retaining 93% of variance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t-SNE: projects 50-dim PCA embeddings to 2D for visualization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Labeled points plotted: Normal (blue) and Cancer (red)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0896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8B0000"/>
                </a:solidFill>
                <a:latin typeface="Calibri"/>
              </a:rPr>
              <a:t>Key observation: No visible separation between Normal and Cancer in the embedding space. Labeled points of both classes are thoroughly intermixed in the t-SNE plot.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ResNet-50 features capture visual structure (brightness, texture, edges) but not pathological differences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This suggests unsupervised methods will struggle to find the Normal/Cancer boundary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• Detailed plots available in Notebook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Clustering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ARI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Clusters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K-Means (k=2)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1,466 vs. 40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2 + 54 noise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274320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8B0000"/>
                </a:solidFill>
                <a:latin typeface="Calibri"/>
              </a:rPr>
              <a:t>ARI = 0 : clusters do NOT correspond to Normal / Cancer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High silhouette scores = geometrically valid clusters, but they separate by image properties (brightness, contrast), not by pathology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K-Means places 97% of images into a single cluster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Weak labels from majority-vote mapping = 50% accuracy (random guessing)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0352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Conclusion: unsupervised methods fail on ImageNet features — we need supervised signal to guide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Semi-Supervised — Label Propagation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Method: graph-based, propagate known labels to neighbors via KNN similarity (k=7)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LabelPropagation and LabelSpreading (sklearn) applied to 1,476 non-test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8B0000"/>
                </a:solidFill>
                <a:latin typeface="Calibri"/>
              </a:rPr>
              <a:t>Result: DEGENERATE — LabelPropagation assigns all images to 'Normal' (F1 = 0.33, same as DummyClassifier). LabelSpreading: F1 = 0.40, identifies only 1/15 cancer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Why it fails: the KNN graph reflects embedding similarity, which does not distinguish Normal from Cancer (confirmed by ARI = 0)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The dominant label floods the entire graph, regardless of true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Informative negative result: graph-based SSL requires at least partial class separability in the feature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Semi-Supervised — Pseudo-Labeling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Method: train LogReg on 70 labeled embeddings, predict unlabeled, keep confident predictions, retrain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3 iterative rounds with decreasing confidence thresholds: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432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463040"/>
                <a:gridCol w="1463040"/>
                <a:gridCol w="182880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Added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Cancer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 Train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F1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+1,046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322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724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1,116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+259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1,375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+56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1,431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94.9% of unlabeled samples exceed the 0.95 threshold in Round 1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Test F1 = 1.00 maintained across all rounds (same as baseline LogReg — ceiling effect on 30 samples)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94960"/>
            <a:ext cx="10515600" cy="45720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400" b="0">
                <a:solidFill>
                  <a:srgbClr val="8B5C00"/>
                </a:solidFill>
                <a:latin typeface="Calibri"/>
              </a:rPr>
              <a:t>Pseudo-label distribution: 33% Normal / 67% Cancer — potential confirmation bias to monitor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CNN Comparison — The Key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 (macro)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Cancer Recall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CNN Supervised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CNN Semi-supervised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96.7%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333333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latin typeface="Calibri"/>
                        </a:rPr>
                        <a:t>+17pp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latin typeface="Calibri"/>
                        </a:rPr>
                        <a:t>+0.18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latin typeface="Calibri"/>
                        </a:rPr>
                        <a:t>+33pp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33333"/>
                          </a:solidFill>
                          <a:latin typeface="Calibri"/>
                        </a:rPr>
                        <a:t>+0.03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Pre-training on 1,406 pseudo-labeled images dramatically improves CNN generalization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Two-phase approach: Phase 1 pre-trains FC head on pseudo-labels (8 epochs), Phase 2 fine-tunes on 56 strong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5488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E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700" b="1">
                <a:solidFill>
                  <a:srgbClr val="1B5E20"/>
                </a:solidFill>
                <a:latin typeface="Calibri"/>
              </a:rPr>
              <a:t>Cancer recall jumps from 60% to 93% — critical in medical context: 6 missed tumors reduced to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029200" cy="41148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800" b="1">
                <a:solidFill>
                  <a:srgbClr val="8B0000"/>
                </a:solidFill>
                <a:latin typeface="Calibri"/>
              </a:rPr>
              <a:t>CNN 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6 errors on 30 test images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0000"/>
                </a:solidFill>
                <a:latin typeface="Calibri"/>
              </a:rPr>
              <a:t>• All 6 are false negatives (cancer classified as normal)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40% of cancer cases missed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Normal: precision 0.71, recall 1.00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Cancer: precision 1.00, recall 0.60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E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CNN Semi-supervised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1 error on 30 test images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  <a:latin typeface="Calibri"/>
              </a:rPr>
              <a:t>• 1 false negative (cancer classified as normal)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7% of cancer cases missed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Normal: precision 0.94, recall 1.00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Cancer: precision 1.00, recall 0.93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In medical imaging, a false negative (missed cancer) is far more costly than a false positive. Semi-supervised pre-training reduces the most dangerous type of error by 83% (6 FN to 1 FN).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Statistical Rigor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 CI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 CI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AUC CI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CNN Supervised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[0.633, 0.933]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[0.623, 0.931]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[0.886, 1.000]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CNN Semi-supervised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[0.899, 1.000]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[0.877, 1.000]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</a:rPr>
                        <a:t>[1.000, 1.000]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560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Bootstrap 95% CI (1,000 resamples on 30-sample test 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• Non-overlapping CIs suggest a real improvement (supervised upper = 0.933 vs. semi-supervised lower = 0.899)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McNemar's test: semi-supervised correctly classifies 5 images the supervised model misses (all cancer)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400" b="0">
                <a:solidFill>
                  <a:srgbClr val="8B5C00"/>
                </a:solidFill>
                <a:latin typeface="Calibri"/>
              </a:rPr>
              <a:t>Limitation: 30-sample test set gives wide intervals. Each image = 3.3% of test set. Cross-validation on 70 samples (91% +/- 7% for LogReg) provides a more reliable performance estimate.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Metric Justification &amp;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• Primary metric: F1-score (macro) — balances precision and recall across both classes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• Secondary: Recall on Cancer class — "Missing a tumor is unacceptable"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Why not accuracy alone: with balanced classes accuracy = F1, but in production with imbalanced data, accuracy can be misleading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29184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32004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F1 (macro)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&gt;= 0.84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0.97 (CNN semi-sup)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Semi-sup &gt; Supervised (CNN)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+17pp accuracy, +0.18 F1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ARI &gt; 0 (clustering)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&gt; 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ARI = 0.00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FAIL (informative)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21208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400" b="0">
                <a:solidFill>
                  <a:srgbClr val="1B2A4A"/>
                </a:solidFill>
                <a:latin typeface="Calibri"/>
              </a:rPr>
              <a:t>The clustering failure (ARI = 0) is a scientifically valuable negative result: it demonstrates the limits of ImageNet transfer learning for medical imaging and motivates the need for supervised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Scaling Analysis — Path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2024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Current (Phase 1)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 (Production)</a:t>
                      </a:r>
                    </a:p>
                  </a:txBody>
                  <a:tcPr anchor="ctr">
                    <a:solidFill>
                      <a:srgbClr val="1B2A4A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1,506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4,000,000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Labeled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100 (300 EUR)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~1,200 (5,000 EUR)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Unlabeled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1,406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3,998,800</a:t>
                      </a:r>
                    </a:p>
                  </a:txBody>
                  <a:tcPr anchor="ctr">
                    <a:solidFill>
                      <a:srgbClr val="FFFFFF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Best F1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>
                    <a:solidFill>
                      <a:srgbClr val="F2F2F2"/>
                    </a:solidFill>
                    <a:top w="6350" cap="flat" cmpd="sng" algn="ctr">
                      <a:solidFill>
                        <a:srgbClr val="CCCCCC"/>
                      </a:solidFill>
                      <a:prstDash val="solid"/>
                    </a:top>
                    <a:bottom w="6350" cap="flat" cmpd="sng" algn="ctr">
                      <a:solidFill>
                        <a:srgbClr val="CCCCCC"/>
                      </a:solidFill>
                      <a:prstDash val="solid"/>
                    </a:bottom>
                    <a:left w="6350" cap="flat" cmpd="sng" algn="ctr">
                      <a:solidFill>
                        <a:srgbClr val="CCCCCC"/>
                      </a:solidFill>
                      <a:prstDash val="solid"/>
                    </a:left>
                    <a:right w="6350" cap="flat" cmpd="sng" algn="ctr">
                      <a:solidFill>
                        <a:srgbClr val="CCCCCC"/>
                      </a:solidFill>
                      <a:prstDash val="solid"/>
                    </a:right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• Scaling strategy: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Label ~1,200 images (5,000 EUR / 4 EUR per label)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Pseudo-label remaining 3,998,800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Two-phase CNN training (proven pipeline)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E0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Cost per image: from 3-5 EUR (manual radiologist labeling) to ~0.001 EUR (inference) — 3,000x cost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• Conditions for success: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Consistent data quality across sites and scanners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Regular human audit of pseudo-labels (spot-check 1-2%)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Larger validation set (200-500 images) before clinical deployment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– Domain shift monitoring (new scanner models, patient populations)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ImageNet features work for binary classification but fail to separate classes unsupervised (ARI = 0)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Graph-based SSL (Label Propagation) fails when features don't respect class boundaries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Pseudo-labeling succeeds because it leverages supervised signal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• CNN semi-supervised: +17pp accuracy, +33pp cancer recall — clinically significant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Calibri"/>
              </a:rPr>
              <a:t>Recommendations for CurelyticsIA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Use semi-supervised pipeline for scaling to 4M images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Invest in medical-domain pretrained models (e.g., MedCLIP) for better feature representations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Implement human-in-the-loop for uncertain predictions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Collect a larger validation set (200-500 images) before clinical deployment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Monitor pseudo-label distribution bias (33/67 split) and domain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Semi-supervised learning is a viable path for CurelyticsIA to scale brain tumor detection at a fraction of the cost of full manual labeling, with clinically meaningful performance gains demonstrated on the pilot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99999"/>
                </a:solidFill>
                <a:latin typeface="Calibri"/>
              </a:rPr>
              <a:t>CurelyticsIA — BrainScanAI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